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Lst>
  <p:notesMasterIdLst>
    <p:notesMasterId r:id="rId18"/>
  </p:notesMasterIdLst>
  <p:sldIdLst>
    <p:sldId id="256" r:id="rId2"/>
    <p:sldId id="263" r:id="rId3"/>
    <p:sldId id="257" r:id="rId4"/>
    <p:sldId id="258" r:id="rId5"/>
    <p:sldId id="259" r:id="rId6"/>
    <p:sldId id="276" r:id="rId7"/>
    <p:sldId id="266" r:id="rId8"/>
    <p:sldId id="267" r:id="rId9"/>
    <p:sldId id="277" r:id="rId10"/>
    <p:sldId id="278" r:id="rId11"/>
    <p:sldId id="279" r:id="rId12"/>
    <p:sldId id="280" r:id="rId13"/>
    <p:sldId id="281" r:id="rId14"/>
    <p:sldId id="282" r:id="rId15"/>
    <p:sldId id="283" r:id="rId16"/>
    <p:sldId id="26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7311E-298C-44BE-919F-B863F48DBF98}" type="datetimeFigureOut">
              <a:rPr lang="en-IN" smtClean="0"/>
              <a:t>28-06-2021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D3E3C8-9840-4EF1-BCA6-EED7EF8509DB}" type="slidenum">
              <a:rPr lang="en-IN" smtClean="0"/>
              <a:t>‹#›</a:t>
            </a:fld>
            <a:endParaRPr lang="en-IN"/>
          </a:p>
        </p:txBody>
      </p:sp>
    </p:spTree>
    <p:extLst>
      <p:ext uri="{BB962C8B-B14F-4D97-AF65-F5344CB8AC3E}">
        <p14:creationId xmlns:p14="http://schemas.microsoft.com/office/powerpoint/2010/main" val="3735336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4D2E1E33-DC24-45FE-980F-E7F41FD61E1E}"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27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spTree>
    <p:extLst>
      <p:ext uri="{BB962C8B-B14F-4D97-AF65-F5344CB8AC3E}">
        <p14:creationId xmlns:p14="http://schemas.microsoft.com/office/powerpoint/2010/main" val="3235667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6001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F6E80C-4C8F-4BF2-A95A-81EB54291ABF}" type="datetimeFigureOut">
              <a:rPr lang="en-IN" smtClean="0"/>
              <a:t>28-06-2021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2E1E33-DC24-45FE-980F-E7F41FD61E1E}" type="slidenum">
              <a:rPr lang="en-IN" smtClean="0"/>
              <a:t>‹#›</a:t>
            </a:fld>
            <a:endParaRPr lang="en-IN"/>
          </a:p>
        </p:txBody>
      </p:sp>
    </p:spTree>
    <p:extLst>
      <p:ext uri="{BB962C8B-B14F-4D97-AF65-F5344CB8AC3E}">
        <p14:creationId xmlns:p14="http://schemas.microsoft.com/office/powerpoint/2010/main" val="352657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F6E80C-4C8F-4BF2-A95A-81EB54291ABF}" type="datetimeFigureOut">
              <a:rPr lang="en-IN" smtClean="0"/>
              <a:t>28-06-2021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D2E1E33-DC24-45FE-980F-E7F41FD61E1E}"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4559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F6E80C-4C8F-4BF2-A95A-81EB54291ABF}" type="datetimeFigureOut">
              <a:rPr lang="en-IN" smtClean="0"/>
              <a:t>28-06-2021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D2E1E33-DC24-45FE-980F-E7F41FD61E1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2482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6E80C-4C8F-4BF2-A95A-81EB54291ABF}" type="datetimeFigureOut">
              <a:rPr lang="en-IN" smtClean="0"/>
              <a:t>28-06-2021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D2E1E33-DC24-45FE-980F-E7F41FD61E1E}" type="slidenum">
              <a:rPr lang="en-IN" smtClean="0"/>
              <a:t>‹#›</a:t>
            </a:fld>
            <a:endParaRPr lang="en-IN"/>
          </a:p>
        </p:txBody>
      </p:sp>
    </p:spTree>
    <p:extLst>
      <p:ext uri="{BB962C8B-B14F-4D97-AF65-F5344CB8AC3E}">
        <p14:creationId xmlns:p14="http://schemas.microsoft.com/office/powerpoint/2010/main" val="280542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6E80C-4C8F-4BF2-A95A-81EB54291ABF}" type="datetimeFigureOut">
              <a:rPr lang="en-IN" smtClean="0"/>
              <a:t>28-06-2021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2E1E33-DC24-45FE-980F-E7F41FD61E1E}"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792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6E80C-4C8F-4BF2-A95A-81EB54291ABF}" type="datetimeFigureOut">
              <a:rPr lang="en-IN" smtClean="0"/>
              <a:t>28-06-2021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2E1E33-DC24-45FE-980F-E7F41FD61E1E}" type="slidenum">
              <a:rPr lang="en-IN" smtClean="0"/>
              <a:t>‹#›</a:t>
            </a:fld>
            <a:endParaRPr lang="en-IN"/>
          </a:p>
        </p:txBody>
      </p:sp>
    </p:spTree>
    <p:extLst>
      <p:ext uri="{BB962C8B-B14F-4D97-AF65-F5344CB8AC3E}">
        <p14:creationId xmlns:p14="http://schemas.microsoft.com/office/powerpoint/2010/main" val="2954528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6E80C-4C8F-4BF2-A95A-81EB54291ABF}" type="datetimeFigureOut">
              <a:rPr lang="en-IN" smtClean="0"/>
              <a:t>28-06-2021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2E1E33-DC24-45FE-980F-E7F41FD61E1E}" type="slidenum">
              <a:rPr lang="en-IN" smtClean="0"/>
              <a:t>‹#›</a:t>
            </a:fld>
            <a:endParaRPr lang="en-IN"/>
          </a:p>
        </p:txBody>
      </p:sp>
    </p:spTree>
    <p:extLst>
      <p:ext uri="{BB962C8B-B14F-4D97-AF65-F5344CB8AC3E}">
        <p14:creationId xmlns:p14="http://schemas.microsoft.com/office/powerpoint/2010/main" val="332791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238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4165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spTree>
    <p:extLst>
      <p:ext uri="{BB962C8B-B14F-4D97-AF65-F5344CB8AC3E}">
        <p14:creationId xmlns:p14="http://schemas.microsoft.com/office/powerpoint/2010/main" val="53713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9397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5954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070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6E80C-4C8F-4BF2-A95A-81EB54291ABF}" type="datetimeFigureOut">
              <a:rPr lang="en-IN" smtClean="0"/>
              <a:t>28-06-2021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2E1E33-DC24-45FE-980F-E7F41FD61E1E}"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6774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4F6E80C-4C8F-4BF2-A95A-81EB54291ABF}" type="datetimeFigureOut">
              <a:rPr lang="en-IN" smtClean="0"/>
              <a:t>28-06-2021</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D2E1E33-DC24-45FE-980F-E7F41FD61E1E}" type="slidenum">
              <a:rPr lang="en-IN" smtClean="0"/>
              <a:t>‹#›</a:t>
            </a:fld>
            <a:endParaRPr lang="en-IN"/>
          </a:p>
        </p:txBody>
      </p:sp>
    </p:spTree>
    <p:extLst>
      <p:ext uri="{BB962C8B-B14F-4D97-AF65-F5344CB8AC3E}">
        <p14:creationId xmlns:p14="http://schemas.microsoft.com/office/powerpoint/2010/main" val="262877715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45205" y="1880369"/>
            <a:ext cx="7701589" cy="1548631"/>
          </a:xfrm>
        </p:spPr>
        <p:txBody>
          <a:bodyPr/>
          <a:lstStyle/>
          <a:p>
            <a:r>
              <a:rPr lang="en-US" dirty="0"/>
              <a:t>Library software for Andaman College</a:t>
            </a:r>
            <a:endParaRPr lang="en-IN" sz="3600" b="1" dirty="0"/>
          </a:p>
        </p:txBody>
      </p:sp>
      <p:sp>
        <p:nvSpPr>
          <p:cNvPr id="3" name="Subtitle 2"/>
          <p:cNvSpPr>
            <a:spLocks noGrp="1"/>
          </p:cNvSpPr>
          <p:nvPr>
            <p:ph type="subTitle" idx="1"/>
          </p:nvPr>
        </p:nvSpPr>
        <p:spPr>
          <a:xfrm>
            <a:off x="2692398" y="3657597"/>
            <a:ext cx="6845497" cy="1688126"/>
          </a:xfrm>
        </p:spPr>
        <p:txBody>
          <a:bodyPr>
            <a:normAutofit fontScale="85000" lnSpcReduction="20000"/>
          </a:bodyPr>
          <a:lstStyle/>
          <a:p>
            <a:pPr algn="l"/>
            <a:r>
              <a:rPr lang="id-ID" sz="1900" b="1" u="sng" dirty="0"/>
              <a:t>Batch </a:t>
            </a:r>
            <a:r>
              <a:rPr lang="id-ID" sz="1900" b="1" dirty="0"/>
              <a:t>              </a:t>
            </a:r>
            <a:r>
              <a:rPr lang="en-IN" sz="1900" b="1" dirty="0"/>
              <a:t> </a:t>
            </a:r>
            <a:r>
              <a:rPr lang="id-ID" sz="1900" b="1" dirty="0"/>
              <a:t> :  </a:t>
            </a:r>
            <a:r>
              <a:rPr lang="en-IN" sz="1900" b="1" dirty="0"/>
              <a:t> MP-IT1</a:t>
            </a:r>
            <a:r>
              <a:rPr lang="id-ID" sz="1900" b="1" dirty="0"/>
              <a:t>   </a:t>
            </a:r>
          </a:p>
          <a:p>
            <a:pPr algn="l"/>
            <a:r>
              <a:rPr lang="en-US" altLang="id-ID" sz="1900" b="1" u="sng" dirty="0"/>
              <a:t>SIH </a:t>
            </a:r>
            <a:r>
              <a:rPr lang="en-US" altLang="id-ID" sz="1900" b="1" dirty="0"/>
              <a:t>                   :  </a:t>
            </a:r>
            <a:r>
              <a:rPr lang="en-IN" b="1" dirty="0"/>
              <a:t>DS165</a:t>
            </a:r>
            <a:r>
              <a:rPr lang="id-ID" sz="1900" b="1" dirty="0"/>
              <a:t>  </a:t>
            </a:r>
            <a:endParaRPr lang="en-IN" sz="1900" b="1" dirty="0"/>
          </a:p>
          <a:p>
            <a:pPr algn="l"/>
            <a:r>
              <a:rPr lang="en-IN" sz="1900" b="1" u="sng" dirty="0"/>
              <a:t>Guide</a:t>
            </a:r>
            <a:r>
              <a:rPr lang="en-IN" sz="1900" b="1" dirty="0"/>
              <a:t>      </a:t>
            </a:r>
            <a:r>
              <a:rPr lang="id-ID" sz="1900" b="1" dirty="0"/>
              <a:t>    </a:t>
            </a:r>
            <a:r>
              <a:rPr lang="en-IN" sz="1900" b="1" dirty="0"/>
              <a:t>       :  K.Lakshminarayana</a:t>
            </a:r>
            <a:r>
              <a:rPr lang="id-ID" sz="1900" b="1" dirty="0"/>
              <a:t>   </a:t>
            </a:r>
          </a:p>
          <a:p>
            <a:pPr algn="l"/>
            <a:r>
              <a:rPr lang="id-ID" sz="1900" b="1" u="sng" dirty="0"/>
              <a:t>Team Members:</a:t>
            </a:r>
            <a:r>
              <a:rPr lang="en-IN" sz="1900" b="1" u="sng" dirty="0"/>
              <a:t> </a:t>
            </a:r>
            <a:r>
              <a:rPr lang="id-ID" sz="1900" b="1" dirty="0"/>
              <a:t> </a:t>
            </a:r>
            <a:r>
              <a:rPr lang="en-IN" sz="1900" b="1" dirty="0"/>
              <a:t>Pinnapureddy Dileep</a:t>
            </a:r>
            <a:r>
              <a:rPr lang="en-US" altLang="id-ID" sz="1900" b="1" dirty="0"/>
              <a:t>(177Y1A1209)</a:t>
            </a:r>
            <a:r>
              <a:rPr lang="id-ID" sz="1900" b="1" dirty="0"/>
              <a:t>,</a:t>
            </a:r>
          </a:p>
          <a:p>
            <a:pPr algn="l"/>
            <a:r>
              <a:rPr lang="id-ID" sz="1900" b="1" dirty="0"/>
              <a:t> </a:t>
            </a:r>
            <a:r>
              <a:rPr lang="en-US" altLang="id-ID" sz="1900" b="1" dirty="0"/>
              <a:t>                             </a:t>
            </a:r>
            <a:r>
              <a:rPr lang="en-IN" altLang="id-ID" sz="1900" b="1" dirty="0"/>
              <a:t>L.Madhumathi</a:t>
            </a:r>
            <a:r>
              <a:rPr lang="en-US" altLang="id-ID" sz="1900" b="1" dirty="0"/>
              <a:t>(177Y1A1221)</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205" y="0"/>
            <a:ext cx="7467029" cy="12863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4399-2670-478F-81FE-F55105557E13}"/>
              </a:ext>
            </a:extLst>
          </p:cNvPr>
          <p:cNvSpPr>
            <a:spLocks noGrp="1"/>
          </p:cNvSpPr>
          <p:nvPr>
            <p:ph type="title"/>
          </p:nvPr>
        </p:nvSpPr>
        <p:spPr/>
        <p:txBody>
          <a:bodyPr/>
          <a:lstStyle/>
          <a:p>
            <a:r>
              <a:rPr lang="en-IN" b="1" dirty="0"/>
              <a:t>Abstract</a:t>
            </a:r>
          </a:p>
        </p:txBody>
      </p:sp>
      <p:sp>
        <p:nvSpPr>
          <p:cNvPr id="3" name="Content Placeholder 2">
            <a:extLst>
              <a:ext uri="{FF2B5EF4-FFF2-40B4-BE49-F238E27FC236}">
                <a16:creationId xmlns:a16="http://schemas.microsoft.com/office/drawing/2014/main" id="{A3DBC5E7-1609-43AE-9C3F-FE07C7F57C54}"/>
              </a:ext>
            </a:extLst>
          </p:cNvPr>
          <p:cNvSpPr>
            <a:spLocks noGrp="1"/>
          </p:cNvSpPr>
          <p:nvPr>
            <p:ph idx="1"/>
          </p:nvPr>
        </p:nvSpPr>
        <p:spPr>
          <a:xfrm>
            <a:off x="1295401" y="2556932"/>
            <a:ext cx="9601196" cy="3576582"/>
          </a:xfrm>
        </p:spPr>
        <p:txBody>
          <a:bodyPr>
            <a:normAutofit fontScale="92500"/>
          </a:bodyPr>
          <a:lstStyle/>
          <a:p>
            <a:pPr algn="just"/>
            <a:r>
              <a:rPr lang="en-US" dirty="0"/>
              <a:t>Library software for Andaman College system is a project which aims in developing a computerized system to maintain all the daily work of library .This project has many features which are generally not available in normal library management systems like  automatic categorization of books . It also has a facility of admin login through which the admin can monitor the whole system . It has also a facility where student after logging in their accounts can see list of books issued and its issue date and return date and also the students can request the librarian to add new books by filling the book request form . The librarian after logging into his account i.e. admin account can generate various reports such as student report , issue report, teacher report and book report.</a:t>
            </a:r>
            <a:endParaRPr lang="en-IN" dirty="0"/>
          </a:p>
        </p:txBody>
      </p:sp>
    </p:spTree>
    <p:extLst>
      <p:ext uri="{BB962C8B-B14F-4D97-AF65-F5344CB8AC3E}">
        <p14:creationId xmlns:p14="http://schemas.microsoft.com/office/powerpoint/2010/main" val="239258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8454" y="1263485"/>
            <a:ext cx="9601196" cy="1303867"/>
          </a:xfrm>
        </p:spPr>
        <p:txBody>
          <a:bodyPr/>
          <a:lstStyle/>
          <a:p>
            <a:r>
              <a:rPr lang="en-IN" b="1" u="sng" dirty="0"/>
              <a:t>Introduction</a:t>
            </a:r>
          </a:p>
        </p:txBody>
      </p:sp>
      <p:sp>
        <p:nvSpPr>
          <p:cNvPr id="3" name="Content Placeholder 2"/>
          <p:cNvSpPr>
            <a:spLocks noGrp="1"/>
          </p:cNvSpPr>
          <p:nvPr>
            <p:ph idx="1"/>
          </p:nvPr>
        </p:nvSpPr>
        <p:spPr>
          <a:xfrm>
            <a:off x="1098453" y="2511128"/>
            <a:ext cx="9733669" cy="3083387"/>
          </a:xfrm>
        </p:spPr>
        <p:txBody>
          <a:bodyPr>
            <a:normAutofit fontScale="92500" lnSpcReduction="20000"/>
          </a:bodyPr>
          <a:lstStyle/>
          <a:p>
            <a:pPr algn="just"/>
            <a:r>
              <a:rPr lang="en-US" dirty="0"/>
              <a:t>Library software is one of the most important factor in educational institution. It is necessary for students to check the books and useful content from the computerized software.</a:t>
            </a:r>
          </a:p>
          <a:p>
            <a:pPr algn="just"/>
            <a:r>
              <a:rPr lang="en-US" dirty="0"/>
              <a:t>Library software for Andaman college specifies the use of computerized library which facilitates the search of book based on title , author. </a:t>
            </a:r>
            <a:endParaRPr lang="id-ID" dirty="0"/>
          </a:p>
          <a:p>
            <a:pPr algn="just"/>
            <a:r>
              <a:rPr lang="en-US" dirty="0"/>
              <a:t>Books and student maintenance modules are also included in this system which would keep track of the students using the library and also a detailed description about the books a library contains. With this computerized system there will be no loss of book record or member record which generally happens when a non computerized system is used.</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390095"/>
            <a:ext cx="9601196" cy="1303867"/>
          </a:xfrm>
        </p:spPr>
        <p:txBody>
          <a:bodyPr/>
          <a:lstStyle/>
          <a:p>
            <a:r>
              <a:rPr lang="en-IN" b="1" u="sng" dirty="0"/>
              <a:t>Objective</a:t>
            </a:r>
          </a:p>
        </p:txBody>
      </p:sp>
      <p:sp>
        <p:nvSpPr>
          <p:cNvPr id="3" name="Content Placeholder 2"/>
          <p:cNvSpPr>
            <a:spLocks noGrp="1"/>
          </p:cNvSpPr>
          <p:nvPr>
            <p:ph idx="1"/>
          </p:nvPr>
        </p:nvSpPr>
        <p:spPr>
          <a:xfrm>
            <a:off x="846146" y="2501909"/>
            <a:ext cx="10050451" cy="3373959"/>
          </a:xfrm>
        </p:spPr>
        <p:txBody>
          <a:bodyPr>
            <a:normAutofit lnSpcReduction="10000"/>
          </a:bodyPr>
          <a:lstStyle/>
          <a:p>
            <a:pPr algn="just"/>
            <a:r>
              <a:rPr lang="en-US" dirty="0"/>
              <a:t>The aim of this project is to develop a system which maintains Library software for Andaman college students.</a:t>
            </a:r>
            <a:endParaRPr lang="id-ID" dirty="0"/>
          </a:p>
          <a:p>
            <a:pPr algn="just"/>
            <a:r>
              <a:rPr lang="en-US" dirty="0"/>
              <a:t>We developed an computerization of Library Activities and Book Transactions.</a:t>
            </a:r>
          </a:p>
          <a:p>
            <a:pPr algn="just"/>
            <a:r>
              <a:rPr lang="en-US" dirty="0"/>
              <a:t>We design a system for library management system for Andaman college that has automatic categorization of books in genres based on title.</a:t>
            </a:r>
          </a:p>
          <a:p>
            <a:pPr algn="just"/>
            <a:r>
              <a:rPr lang="en-US" dirty="0"/>
              <a:t>The  developed system is used to search from the internet and get information about the book and put them into appropriate category based on title, authors and information collected online.</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347892"/>
            <a:ext cx="9601196" cy="1303867"/>
          </a:xfrm>
        </p:spPr>
        <p:txBody>
          <a:bodyPr/>
          <a:lstStyle/>
          <a:p>
            <a:r>
              <a:rPr lang="en-US" b="1" u="sng" dirty="0"/>
              <a:t>System Specification</a:t>
            </a:r>
          </a:p>
        </p:txBody>
      </p:sp>
      <p:sp>
        <p:nvSpPr>
          <p:cNvPr id="5" name="Content Placeholder 4">
            <a:extLst>
              <a:ext uri="{FF2B5EF4-FFF2-40B4-BE49-F238E27FC236}">
                <a16:creationId xmlns:a16="http://schemas.microsoft.com/office/drawing/2014/main" id="{CD0042F0-8398-4DCE-AFAF-DAF466BB15E9}"/>
              </a:ext>
            </a:extLst>
          </p:cNvPr>
          <p:cNvSpPr>
            <a:spLocks noGrp="1"/>
          </p:cNvSpPr>
          <p:nvPr>
            <p:ph idx="1"/>
          </p:nvPr>
        </p:nvSpPr>
        <p:spPr/>
        <p:txBody>
          <a:bodyPr>
            <a:normAutofit fontScale="77500" lnSpcReduction="20000"/>
          </a:bodyPr>
          <a:lstStyle/>
          <a:p>
            <a:pPr algn="just"/>
            <a:r>
              <a:rPr lang="en-IN" dirty="0"/>
              <a:t>Hardware Requirement</a:t>
            </a:r>
          </a:p>
          <a:p>
            <a:pPr marL="0" indent="0" algn="just">
              <a:buNone/>
            </a:pPr>
            <a:r>
              <a:rPr lang="en-IN" dirty="0"/>
              <a:t>            RAM 2GB</a:t>
            </a:r>
          </a:p>
          <a:p>
            <a:pPr marL="0" indent="0" algn="just">
              <a:buNone/>
            </a:pPr>
            <a:r>
              <a:rPr lang="en-IN" dirty="0"/>
              <a:t>            Processor: Intel i3</a:t>
            </a:r>
          </a:p>
          <a:p>
            <a:pPr marL="0" indent="0" algn="just">
              <a:buNone/>
            </a:pPr>
            <a:r>
              <a:rPr lang="en-IN" dirty="0"/>
              <a:t>            Hard Drive : 512 GB</a:t>
            </a:r>
          </a:p>
          <a:p>
            <a:pPr algn="just"/>
            <a:r>
              <a:rPr lang="en-IN" dirty="0"/>
              <a:t>Software Requirement</a:t>
            </a:r>
          </a:p>
          <a:p>
            <a:pPr marL="0" indent="0" algn="just">
              <a:buNone/>
            </a:pPr>
            <a:r>
              <a:rPr lang="en-IN" dirty="0"/>
              <a:t>             MySQL</a:t>
            </a:r>
          </a:p>
          <a:p>
            <a:pPr marL="0" indent="0" algn="just">
              <a:buNone/>
            </a:pPr>
            <a:r>
              <a:rPr lang="en-IN" dirty="0"/>
              <a:t>             </a:t>
            </a:r>
            <a:r>
              <a:rPr lang="en-IN" dirty="0" err="1"/>
              <a:t>HTML,PHP,JavaScript</a:t>
            </a:r>
            <a:endParaRPr lang="en-IN" dirty="0"/>
          </a:p>
          <a:p>
            <a:pPr marL="0" indent="0" algn="just">
              <a:buNone/>
            </a:pPr>
            <a:r>
              <a:rPr lang="en-IN" dirty="0"/>
              <a:t>             Node JS</a:t>
            </a:r>
          </a:p>
          <a:p>
            <a:pPr marL="0" indent="0" algn="just">
              <a:buNone/>
            </a:pPr>
            <a:r>
              <a:rPr lang="en-IN" dirty="0"/>
              <a:t>             OS Windows Server 2003/2007 etc.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03FDD-5CD1-4590-B584-9865B8116FCF}"/>
              </a:ext>
            </a:extLst>
          </p:cNvPr>
          <p:cNvSpPr>
            <a:spLocks noGrp="1"/>
          </p:cNvSpPr>
          <p:nvPr>
            <p:ph type="title"/>
          </p:nvPr>
        </p:nvSpPr>
        <p:spPr/>
        <p:txBody>
          <a:bodyPr/>
          <a:lstStyle/>
          <a:p>
            <a:r>
              <a:rPr lang="en-IN" b="1" dirty="0"/>
              <a:t>Modules</a:t>
            </a:r>
          </a:p>
        </p:txBody>
      </p:sp>
      <p:sp>
        <p:nvSpPr>
          <p:cNvPr id="3" name="Content Placeholder 2">
            <a:extLst>
              <a:ext uri="{FF2B5EF4-FFF2-40B4-BE49-F238E27FC236}">
                <a16:creationId xmlns:a16="http://schemas.microsoft.com/office/drawing/2014/main" id="{75977775-2682-41A7-8863-EDD3970BB86B}"/>
              </a:ext>
            </a:extLst>
          </p:cNvPr>
          <p:cNvSpPr>
            <a:spLocks noGrp="1"/>
          </p:cNvSpPr>
          <p:nvPr>
            <p:ph idx="1"/>
          </p:nvPr>
        </p:nvSpPr>
        <p:spPr/>
        <p:txBody>
          <a:bodyPr>
            <a:normAutofit fontScale="92500" lnSpcReduction="10000"/>
          </a:bodyPr>
          <a:lstStyle/>
          <a:p>
            <a:r>
              <a:rPr lang="en-US" dirty="0"/>
              <a:t>For Library Management System it is divided into the following Modules: </a:t>
            </a:r>
            <a:endParaRPr lang="en-IN" dirty="0"/>
          </a:p>
          <a:p>
            <a:r>
              <a:rPr lang="en-IN" b="1" dirty="0"/>
              <a:t>Admin Module </a:t>
            </a:r>
          </a:p>
          <a:p>
            <a:r>
              <a:rPr lang="en-IN" b="1" dirty="0"/>
              <a:t>Student Module</a:t>
            </a:r>
            <a:endParaRPr lang="en-IN" dirty="0"/>
          </a:p>
          <a:p>
            <a:r>
              <a:rPr lang="en-IN" b="1" dirty="0"/>
              <a:t>Teacher Module </a:t>
            </a:r>
            <a:endParaRPr lang="en-IN" dirty="0"/>
          </a:p>
          <a:p>
            <a:r>
              <a:rPr lang="en-IN" b="1" dirty="0"/>
              <a:t>Book Module </a:t>
            </a:r>
            <a:endParaRPr lang="en-IN" dirty="0"/>
          </a:p>
          <a:p>
            <a:r>
              <a:rPr lang="en-IN" b="1" dirty="0"/>
              <a:t>Book Transaction Module </a:t>
            </a:r>
            <a:endParaRPr lang="en-IN" dirty="0"/>
          </a:p>
          <a:p>
            <a:r>
              <a:rPr lang="en-IN" b="1" dirty="0"/>
              <a:t>Report Module </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45591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3C97-EE0F-4FFD-80FC-76C5AC8655DD}"/>
              </a:ext>
            </a:extLst>
          </p:cNvPr>
          <p:cNvSpPr>
            <a:spLocks noGrp="1"/>
          </p:cNvSpPr>
          <p:nvPr>
            <p:ph type="title"/>
          </p:nvPr>
        </p:nvSpPr>
        <p:spPr>
          <a:xfrm>
            <a:off x="1295402" y="1615179"/>
            <a:ext cx="9601196" cy="579382"/>
          </a:xfrm>
        </p:spPr>
        <p:txBody>
          <a:bodyPr>
            <a:normAutofit fontScale="90000"/>
          </a:bodyPr>
          <a:lstStyle/>
          <a:p>
            <a:r>
              <a:rPr lang="en-IN" b="1" dirty="0"/>
              <a:t>EXISTING VS PROPOSED SYSTEM</a:t>
            </a:r>
          </a:p>
        </p:txBody>
      </p:sp>
      <p:sp>
        <p:nvSpPr>
          <p:cNvPr id="3" name="Content Placeholder 2">
            <a:extLst>
              <a:ext uri="{FF2B5EF4-FFF2-40B4-BE49-F238E27FC236}">
                <a16:creationId xmlns:a16="http://schemas.microsoft.com/office/drawing/2014/main" id="{5AAF2E55-A971-4DEE-8D16-948D622EBC69}"/>
              </a:ext>
            </a:extLst>
          </p:cNvPr>
          <p:cNvSpPr>
            <a:spLocks noGrp="1"/>
          </p:cNvSpPr>
          <p:nvPr>
            <p:ph idx="1"/>
          </p:nvPr>
        </p:nvSpPr>
        <p:spPr>
          <a:xfrm>
            <a:off x="1295402" y="2489982"/>
            <a:ext cx="9601196" cy="3713870"/>
          </a:xfrm>
        </p:spPr>
        <p:txBody>
          <a:bodyPr>
            <a:normAutofit fontScale="92500" lnSpcReduction="10000"/>
          </a:bodyPr>
          <a:lstStyle/>
          <a:p>
            <a:r>
              <a:rPr lang="en-US" dirty="0"/>
              <a:t>Existing system does not have a facility of online reservation of books whereas proposed system has a facility of online reservation of books.</a:t>
            </a:r>
          </a:p>
          <a:p>
            <a:r>
              <a:rPr lang="en-US" dirty="0"/>
              <a:t>Existing system does not have any facility to generate student reports as well book issue reports whereas proposed system provides librarian with a tool to generate reports.</a:t>
            </a:r>
          </a:p>
          <a:p>
            <a:r>
              <a:rPr lang="en-US" dirty="0"/>
              <a:t>Existing system does not has any facility for book request and suggestions where as in proposed system after logging in to their accounts student can request books as well as provide suggestions to improve library.</a:t>
            </a:r>
          </a:p>
          <a:p>
            <a:r>
              <a:rPr lang="en-US" dirty="0"/>
              <a:t>Existing system does not have a facility of voice based search of books where as proposed system has a facility of voice based search.</a:t>
            </a:r>
          </a:p>
          <a:p>
            <a:endParaRPr lang="en-IN" dirty="0"/>
          </a:p>
        </p:txBody>
      </p:sp>
    </p:spTree>
    <p:extLst>
      <p:ext uri="{BB962C8B-B14F-4D97-AF65-F5344CB8AC3E}">
        <p14:creationId xmlns:p14="http://schemas.microsoft.com/office/powerpoint/2010/main" val="806687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7C859-4261-489C-9760-27EE616D6E51}"/>
              </a:ext>
            </a:extLst>
          </p:cNvPr>
          <p:cNvSpPr>
            <a:spLocks noGrp="1"/>
          </p:cNvSpPr>
          <p:nvPr>
            <p:ph type="title"/>
          </p:nvPr>
        </p:nvSpPr>
        <p:spPr/>
        <p:txBody>
          <a:bodyPr/>
          <a:lstStyle/>
          <a:p>
            <a:r>
              <a:rPr lang="en-IN" b="1" dirty="0"/>
              <a:t>System Architecture</a:t>
            </a:r>
          </a:p>
        </p:txBody>
      </p:sp>
      <p:pic>
        <p:nvPicPr>
          <p:cNvPr id="7" name="Content Placeholder 6">
            <a:extLst>
              <a:ext uri="{FF2B5EF4-FFF2-40B4-BE49-F238E27FC236}">
                <a16:creationId xmlns:a16="http://schemas.microsoft.com/office/drawing/2014/main" id="{6280C506-C265-49E4-93AC-3F01DD791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7766" y="2424757"/>
            <a:ext cx="3770141" cy="3802274"/>
          </a:xfrm>
        </p:spPr>
      </p:pic>
    </p:spTree>
    <p:extLst>
      <p:ext uri="{BB962C8B-B14F-4D97-AF65-F5344CB8AC3E}">
        <p14:creationId xmlns:p14="http://schemas.microsoft.com/office/powerpoint/2010/main" val="2147334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82F6AA-FAAB-41B8-9E0C-3736F8622793}"/>
              </a:ext>
            </a:extLst>
          </p:cNvPr>
          <p:cNvPicPr/>
          <p:nvPr/>
        </p:nvPicPr>
        <p:blipFill>
          <a:blip r:embed="rId2"/>
          <a:stretch>
            <a:fillRect/>
          </a:stretch>
        </p:blipFill>
        <p:spPr>
          <a:xfrm>
            <a:off x="1885070" y="2349304"/>
            <a:ext cx="7737231" cy="3615397"/>
          </a:xfrm>
          <a:prstGeom prst="rect">
            <a:avLst/>
          </a:prstGeom>
        </p:spPr>
      </p:pic>
      <p:sp>
        <p:nvSpPr>
          <p:cNvPr id="4" name="TextBox 3">
            <a:extLst>
              <a:ext uri="{FF2B5EF4-FFF2-40B4-BE49-F238E27FC236}">
                <a16:creationId xmlns:a16="http://schemas.microsoft.com/office/drawing/2014/main" id="{AFB9386F-4E9F-4B45-8BCB-695306CBF344}"/>
              </a:ext>
            </a:extLst>
          </p:cNvPr>
          <p:cNvSpPr txBox="1"/>
          <p:nvPr/>
        </p:nvSpPr>
        <p:spPr>
          <a:xfrm>
            <a:off x="2518118" y="1392702"/>
            <a:ext cx="7104183" cy="584775"/>
          </a:xfrm>
          <a:prstGeom prst="rect">
            <a:avLst/>
          </a:prstGeom>
          <a:noFill/>
        </p:spPr>
        <p:txBody>
          <a:bodyPr wrap="square" rtlCol="0">
            <a:spAutoFit/>
          </a:bodyPr>
          <a:lstStyle/>
          <a:p>
            <a:r>
              <a:rPr lang="en-IN" sz="3200" u="sng" dirty="0">
                <a:latin typeface="Times New Roman" panose="02020603050405020304" pitchFamily="18" charset="0"/>
                <a:cs typeface="Times New Roman" panose="02020603050405020304" pitchFamily="18" charset="0"/>
              </a:rPr>
              <a:t>Home page of Andaman College Library</a:t>
            </a:r>
          </a:p>
        </p:txBody>
      </p:sp>
    </p:spTree>
    <p:extLst>
      <p:ext uri="{BB962C8B-B14F-4D97-AF65-F5344CB8AC3E}">
        <p14:creationId xmlns:p14="http://schemas.microsoft.com/office/powerpoint/2010/main" val="4240954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859C92-B34F-4859-B9D3-1E480DAE9516}"/>
              </a:ext>
            </a:extLst>
          </p:cNvPr>
          <p:cNvPicPr/>
          <p:nvPr/>
        </p:nvPicPr>
        <p:blipFill>
          <a:blip r:embed="rId2"/>
          <a:stretch>
            <a:fillRect/>
          </a:stretch>
        </p:blipFill>
        <p:spPr>
          <a:xfrm>
            <a:off x="2082019" y="2546253"/>
            <a:ext cx="7300155" cy="3499094"/>
          </a:xfrm>
          <a:prstGeom prst="rect">
            <a:avLst/>
          </a:prstGeom>
        </p:spPr>
      </p:pic>
      <p:sp>
        <p:nvSpPr>
          <p:cNvPr id="3" name="TextBox 2">
            <a:extLst>
              <a:ext uri="{FF2B5EF4-FFF2-40B4-BE49-F238E27FC236}">
                <a16:creationId xmlns:a16="http://schemas.microsoft.com/office/drawing/2014/main" id="{5FE2C682-ECBD-4B99-BD45-93E4BFC953C7}"/>
              </a:ext>
            </a:extLst>
          </p:cNvPr>
          <p:cNvSpPr txBox="1"/>
          <p:nvPr/>
        </p:nvSpPr>
        <p:spPr>
          <a:xfrm>
            <a:off x="1547446" y="1223889"/>
            <a:ext cx="8398412"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Admin Login Page</a:t>
            </a:r>
          </a:p>
        </p:txBody>
      </p:sp>
    </p:spTree>
    <p:extLst>
      <p:ext uri="{BB962C8B-B14F-4D97-AF65-F5344CB8AC3E}">
        <p14:creationId xmlns:p14="http://schemas.microsoft.com/office/powerpoint/2010/main" val="3216156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047133-778B-487B-81FD-2E45E8BFBDAD}"/>
              </a:ext>
            </a:extLst>
          </p:cNvPr>
          <p:cNvPicPr/>
          <p:nvPr/>
        </p:nvPicPr>
        <p:blipFill>
          <a:blip r:embed="rId2"/>
          <a:stretch>
            <a:fillRect/>
          </a:stretch>
        </p:blipFill>
        <p:spPr>
          <a:xfrm>
            <a:off x="1931963" y="2194560"/>
            <a:ext cx="8328074" cy="3888448"/>
          </a:xfrm>
          <a:prstGeom prst="rect">
            <a:avLst/>
          </a:prstGeom>
        </p:spPr>
      </p:pic>
      <p:sp>
        <p:nvSpPr>
          <p:cNvPr id="3" name="TextBox 2">
            <a:extLst>
              <a:ext uri="{FF2B5EF4-FFF2-40B4-BE49-F238E27FC236}">
                <a16:creationId xmlns:a16="http://schemas.microsoft.com/office/drawing/2014/main" id="{D69047D8-611B-4B87-99A7-FE85EB7487B4}"/>
              </a:ext>
            </a:extLst>
          </p:cNvPr>
          <p:cNvSpPr txBox="1"/>
          <p:nvPr/>
        </p:nvSpPr>
        <p:spPr>
          <a:xfrm>
            <a:off x="1392702" y="1195754"/>
            <a:ext cx="8764172" cy="769441"/>
          </a:xfrm>
          <a:prstGeom prst="rect">
            <a:avLst/>
          </a:prstGeom>
          <a:noFill/>
        </p:spPr>
        <p:txBody>
          <a:bodyPr wrap="square" rtlCol="0">
            <a:spAutoFit/>
          </a:bodyPr>
          <a:lstStyle/>
          <a:p>
            <a:r>
              <a:rPr lang="en-IN" sz="4400" b="1" u="sng" dirty="0">
                <a:latin typeface="Times New Roman" panose="02020603050405020304" pitchFamily="18" charset="0"/>
                <a:cs typeface="Times New Roman" panose="02020603050405020304" pitchFamily="18" charset="0"/>
              </a:rPr>
              <a:t>Admin dashboard</a:t>
            </a:r>
          </a:p>
        </p:txBody>
      </p:sp>
    </p:spTree>
    <p:extLst>
      <p:ext uri="{BB962C8B-B14F-4D97-AF65-F5344CB8AC3E}">
        <p14:creationId xmlns:p14="http://schemas.microsoft.com/office/powerpoint/2010/main" val="288363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8C64AE-3DAF-442A-BC0B-4445AF101220}"/>
              </a:ext>
            </a:extLst>
          </p:cNvPr>
          <p:cNvPicPr/>
          <p:nvPr/>
        </p:nvPicPr>
        <p:blipFill>
          <a:blip r:embed="rId2"/>
          <a:stretch>
            <a:fillRect/>
          </a:stretch>
        </p:blipFill>
        <p:spPr>
          <a:xfrm>
            <a:off x="2391507" y="2321169"/>
            <a:ext cx="6653042" cy="3773585"/>
          </a:xfrm>
          <a:prstGeom prst="rect">
            <a:avLst/>
          </a:prstGeom>
        </p:spPr>
      </p:pic>
      <p:sp>
        <p:nvSpPr>
          <p:cNvPr id="3" name="TextBox 2">
            <a:extLst>
              <a:ext uri="{FF2B5EF4-FFF2-40B4-BE49-F238E27FC236}">
                <a16:creationId xmlns:a16="http://schemas.microsoft.com/office/drawing/2014/main" id="{5402F0DC-2706-4C4E-955F-9E44AAB8B915}"/>
              </a:ext>
            </a:extLst>
          </p:cNvPr>
          <p:cNvSpPr txBox="1"/>
          <p:nvPr/>
        </p:nvSpPr>
        <p:spPr>
          <a:xfrm>
            <a:off x="1505242" y="1069145"/>
            <a:ext cx="8384345" cy="707886"/>
          </a:xfrm>
          <a:prstGeom prst="rect">
            <a:avLst/>
          </a:prstGeom>
          <a:noFill/>
        </p:spPr>
        <p:txBody>
          <a:bodyPr wrap="square" rtlCol="0">
            <a:spAutoFit/>
          </a:bodyPr>
          <a:lstStyle/>
          <a:p>
            <a:r>
              <a:rPr lang="en-IN" sz="4000" b="1" u="sng" dirty="0">
                <a:latin typeface="Times New Roman" panose="02020603050405020304" pitchFamily="18" charset="0"/>
                <a:cs typeface="Times New Roman" panose="02020603050405020304" pitchFamily="18" charset="0"/>
              </a:rPr>
              <a:t>Student Login Page</a:t>
            </a:r>
          </a:p>
        </p:txBody>
      </p:sp>
    </p:spTree>
    <p:extLst>
      <p:ext uri="{BB962C8B-B14F-4D97-AF65-F5344CB8AC3E}">
        <p14:creationId xmlns:p14="http://schemas.microsoft.com/office/powerpoint/2010/main" val="3076264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301C24-384A-4B13-A290-FDDEFAB3B339}"/>
              </a:ext>
            </a:extLst>
          </p:cNvPr>
          <p:cNvPicPr/>
          <p:nvPr/>
        </p:nvPicPr>
        <p:blipFill>
          <a:blip r:embed="rId2"/>
          <a:stretch>
            <a:fillRect/>
          </a:stretch>
        </p:blipFill>
        <p:spPr>
          <a:xfrm>
            <a:off x="1617784" y="2124223"/>
            <a:ext cx="7722187" cy="3762570"/>
          </a:xfrm>
          <a:prstGeom prst="rect">
            <a:avLst/>
          </a:prstGeom>
        </p:spPr>
      </p:pic>
      <p:sp>
        <p:nvSpPr>
          <p:cNvPr id="3" name="TextBox 2">
            <a:extLst>
              <a:ext uri="{FF2B5EF4-FFF2-40B4-BE49-F238E27FC236}">
                <a16:creationId xmlns:a16="http://schemas.microsoft.com/office/drawing/2014/main" id="{5A164790-8E9F-4C7C-BA50-1EFFDB011408}"/>
              </a:ext>
            </a:extLst>
          </p:cNvPr>
          <p:cNvSpPr txBox="1"/>
          <p:nvPr/>
        </p:nvSpPr>
        <p:spPr>
          <a:xfrm>
            <a:off x="1758462" y="1153551"/>
            <a:ext cx="8159261" cy="707886"/>
          </a:xfrm>
          <a:prstGeom prst="rect">
            <a:avLst/>
          </a:prstGeom>
          <a:noFill/>
        </p:spPr>
        <p:txBody>
          <a:bodyPr wrap="square" rtlCol="0">
            <a:spAutoFit/>
          </a:bodyPr>
          <a:lstStyle/>
          <a:p>
            <a:r>
              <a:rPr lang="en-IN" sz="4000" b="1" u="sng" dirty="0">
                <a:latin typeface="Times New Roman" panose="02020603050405020304" pitchFamily="18" charset="0"/>
                <a:cs typeface="Times New Roman" panose="02020603050405020304" pitchFamily="18" charset="0"/>
              </a:rPr>
              <a:t>Staff Login Page</a:t>
            </a:r>
          </a:p>
        </p:txBody>
      </p:sp>
    </p:spTree>
    <p:extLst>
      <p:ext uri="{BB962C8B-B14F-4D97-AF65-F5344CB8AC3E}">
        <p14:creationId xmlns:p14="http://schemas.microsoft.com/office/powerpoint/2010/main" val="1468819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EBA9F0-5503-4141-BD2A-DA572A2F7851}"/>
              </a:ext>
            </a:extLst>
          </p:cNvPr>
          <p:cNvPicPr/>
          <p:nvPr/>
        </p:nvPicPr>
        <p:blipFill>
          <a:blip r:embed="rId2"/>
          <a:stretch>
            <a:fillRect/>
          </a:stretch>
        </p:blipFill>
        <p:spPr>
          <a:xfrm>
            <a:off x="2096086" y="1969477"/>
            <a:ext cx="7089140" cy="3928110"/>
          </a:xfrm>
          <a:prstGeom prst="rect">
            <a:avLst/>
          </a:prstGeom>
        </p:spPr>
      </p:pic>
      <p:sp>
        <p:nvSpPr>
          <p:cNvPr id="3" name="TextBox 2">
            <a:extLst>
              <a:ext uri="{FF2B5EF4-FFF2-40B4-BE49-F238E27FC236}">
                <a16:creationId xmlns:a16="http://schemas.microsoft.com/office/drawing/2014/main" id="{F1EDE886-12DC-417C-B666-B442A0A5C6BB}"/>
              </a:ext>
            </a:extLst>
          </p:cNvPr>
          <p:cNvSpPr txBox="1"/>
          <p:nvPr/>
        </p:nvSpPr>
        <p:spPr>
          <a:xfrm>
            <a:off x="1913206" y="1055077"/>
            <a:ext cx="8060788" cy="707886"/>
          </a:xfrm>
          <a:prstGeom prst="rect">
            <a:avLst/>
          </a:prstGeom>
          <a:noFill/>
        </p:spPr>
        <p:txBody>
          <a:bodyPr wrap="square" rtlCol="0">
            <a:spAutoFit/>
          </a:bodyPr>
          <a:lstStyle/>
          <a:p>
            <a:r>
              <a:rPr lang="en-IN" sz="4000" b="1" u="sng" dirty="0">
                <a:latin typeface="Times New Roman" panose="02020603050405020304" pitchFamily="18" charset="0"/>
                <a:cs typeface="Times New Roman" panose="02020603050405020304" pitchFamily="18" charset="0"/>
              </a:rPr>
              <a:t>Books Module</a:t>
            </a:r>
          </a:p>
        </p:txBody>
      </p:sp>
    </p:spTree>
    <p:extLst>
      <p:ext uri="{BB962C8B-B14F-4D97-AF65-F5344CB8AC3E}">
        <p14:creationId xmlns:p14="http://schemas.microsoft.com/office/powerpoint/2010/main" val="4069630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3125-610B-459B-BB59-001AF7FD68FD}"/>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60CAD4F2-A453-4432-8D6D-C23362B198A9}"/>
              </a:ext>
            </a:extLst>
          </p:cNvPr>
          <p:cNvSpPr>
            <a:spLocks noGrp="1"/>
          </p:cNvSpPr>
          <p:nvPr>
            <p:ph idx="1"/>
          </p:nvPr>
        </p:nvSpPr>
        <p:spPr/>
        <p:txBody>
          <a:bodyPr>
            <a:normAutofit/>
          </a:bodyPr>
          <a:lstStyle/>
          <a:p>
            <a:r>
              <a:rPr lang="en-US" dirty="0"/>
              <a:t>This Andaman College Library website provides a computerized version of library management system which will benefit the students as well as the staff of the library. It makes entire process online where student can search books, staff can generate reports and do book transactions. It also has a facility for student login where student can login and can see status of books issued as well request for book or give some suggestions. </a:t>
            </a:r>
            <a:endParaRPr lang="en-IN" dirty="0"/>
          </a:p>
        </p:txBody>
      </p:sp>
    </p:spTree>
    <p:extLst>
      <p:ext uri="{BB962C8B-B14F-4D97-AF65-F5344CB8AC3E}">
        <p14:creationId xmlns:p14="http://schemas.microsoft.com/office/powerpoint/2010/main" val="2297129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lnSpc>
                <a:spcPct val="320000"/>
              </a:lnSpc>
            </a:pPr>
            <a:r>
              <a:rPr lang="en-US" sz="4400" b="1" dirty="0"/>
              <a:t>THANK YOU </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373</TotalTime>
  <Words>652</Words>
  <Application>Microsoft Office PowerPoint</Application>
  <PresentationFormat>Widescreen</PresentationFormat>
  <Paragraphs>131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Garamond</vt:lpstr>
      <vt:lpstr>Times New Roman</vt:lpstr>
      <vt:lpstr>Organic</vt:lpstr>
      <vt:lpstr>Library software for Andaman College</vt:lpstr>
      <vt:lpstr>Abstract</vt:lpstr>
      <vt:lpstr>Introduction</vt:lpstr>
      <vt:lpstr>Objective</vt:lpstr>
      <vt:lpstr>System Specification</vt:lpstr>
      <vt:lpstr>Modules</vt:lpstr>
      <vt:lpstr>EXISTING VS PROPOSED SYSTEM</vt:lpstr>
      <vt:lpstr>System Architecture</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Extraction of Crop Cycle Parameters from multi-temporal data</dc:title>
  <dc:creator>surya teja</dc:creator>
  <cp:lastModifiedBy>dileep</cp:lastModifiedBy>
  <cp:revision>31</cp:revision>
  <dcterms:created xsi:type="dcterms:W3CDTF">2021-04-06T05:48:00Z</dcterms:created>
  <dcterms:modified xsi:type="dcterms:W3CDTF">2021-06-28T03:56:40Z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1033-11.2.0.10114</vt:lpwstr>
  </property>
</Properties>
</file>